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258" r:id="rId4"/>
    <p:sldId id="260" r:id="rId5"/>
    <p:sldId id="262" r:id="rId6"/>
    <p:sldId id="264" r:id="rId7"/>
    <p:sldId id="266" r:id="rId8"/>
    <p:sldId id="267" r:id="rId9"/>
    <p:sldId id="265" r:id="rId10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https://mohan08p.medium.com/simplified-kubernetes-architecture-3febe12480eb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hyperlink" Target="https://kubernetes.io/docs/concepts/overview/components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11350"/>
            <a:ext cx="9144000" cy="2199005"/>
          </a:xfrm>
        </p:spPr>
        <p:txBody>
          <a:bodyPr>
            <a:normAutofit fontScale="90000"/>
          </a:bodyPr>
          <a:p>
            <a:br>
              <a:rPr lang="en-US" altLang="en-US" sz="4400"/>
            </a:br>
            <a:br>
              <a:rPr lang="en-US" altLang="en-US" sz="4400"/>
            </a:br>
            <a:r>
              <a:rPr lang="en-US" altLang="en-US" sz="4400"/>
              <a:t>Unit -1</a:t>
            </a:r>
            <a:br>
              <a:rPr lang="en-US" altLang="en-US" sz="4400"/>
            </a:br>
            <a:r>
              <a:rPr lang="en-US" altLang="en-US" sz="4400"/>
              <a:t>Introduction to Kubernetes</a:t>
            </a:r>
            <a:endParaRPr lang="en-US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Unit-1 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>
                <a:sym typeface="+mn-ea"/>
              </a:rPr>
              <a:t>Introduction to Kubernetes : </a:t>
            </a:r>
            <a:endParaRPr lang="en-US" altLang="en-US" sz="2800"/>
          </a:p>
          <a:p>
            <a:pPr lvl="1"/>
            <a:r>
              <a:rPr lang="en-US" altLang="en-US" sz="2800">
                <a:sym typeface="+mn-ea"/>
              </a:rPr>
              <a:t>Containerization, </a:t>
            </a:r>
            <a:endParaRPr lang="en-US" altLang="en-US" sz="2800"/>
          </a:p>
          <a:p>
            <a:pPr lvl="1"/>
            <a:r>
              <a:rPr lang="en-US" altLang="en-US" sz="2800">
                <a:sym typeface="+mn-ea"/>
              </a:rPr>
              <a:t>Tools for Containerization,</a:t>
            </a:r>
            <a:endParaRPr lang="en-US" altLang="en-US" sz="2800"/>
          </a:p>
          <a:p>
            <a:pPr lvl="1"/>
            <a:r>
              <a:rPr lang="en-US" altLang="en-US" sz="2800">
                <a:solidFill>
                  <a:schemeClr val="tx1"/>
                </a:solidFill>
                <a:sym typeface="+mn-ea"/>
              </a:rPr>
              <a:t>Kubernetes Overview,</a:t>
            </a:r>
            <a:r>
              <a:rPr lang="en-US" altLang="en-US" sz="28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</a:t>
            </a:r>
            <a:endParaRPr lang="en-US" altLang="en-US" sz="28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lvl="1"/>
            <a:r>
              <a:rPr lang="en-US" altLang="en-US" sz="2800">
                <a:solidFill>
                  <a:schemeClr val="tx1"/>
                </a:solidFill>
                <a:sym typeface="+mn-ea"/>
              </a:rPr>
              <a:t>Kubernetes Concept, </a:t>
            </a:r>
            <a:endParaRPr lang="en-US" altLang="en-US" sz="2800">
              <a:solidFill>
                <a:schemeClr val="tx1"/>
              </a:solidFill>
            </a:endParaRPr>
          </a:p>
          <a:p>
            <a:pPr lvl="1"/>
            <a:r>
              <a:rPr lang="en-US" altLang="en-US" sz="2800">
                <a:solidFill>
                  <a:schemeClr val="tx1"/>
                </a:solidFill>
                <a:sym typeface="+mn-ea"/>
              </a:rPr>
              <a:t>Use of Kubernetes,</a:t>
            </a:r>
            <a:r>
              <a:rPr lang="en-US" altLang="en-US" sz="28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</a:t>
            </a:r>
            <a:endParaRPr lang="en-US" altLang="en-US" sz="28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lvl="1"/>
            <a:r>
              <a:rPr lang="en-US" altLang="en-US" sz="28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Kubernetes Master-Slave Architecture.</a:t>
            </a:r>
            <a:endParaRPr lang="en-US" altLang="en-US" sz="2800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 altLang="en-US" sz="280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Prerequisits Link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https://devopscube.com/learn-kubernetes-complete-roadmap/?ref=devopscube.com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Kubernetes is a distributed system. </a:t>
            </a:r>
            <a:endParaRPr lang="en-US" altLang="en-US"/>
          </a:p>
          <a:p>
            <a:r>
              <a:rPr lang="en-US" altLang="en-US"/>
              <a:t>Meaning, it has multiple components spread across different servers over a network. </a:t>
            </a:r>
            <a:endParaRPr lang="en-US" altLang="en-US"/>
          </a:p>
          <a:p>
            <a:r>
              <a:rPr lang="en-US" altLang="en-US"/>
              <a:t>These servers could be Virtual machines or bare metal servers. We call it a Kubernetes cluster.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>
            <a:hlinkClick r:id="rId1" action="ppaction://hlinkfile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5"/>
            <a:ext cx="12192635" cy="63226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51865" y="6421120"/>
            <a:ext cx="966978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https://mohan08p.medium.com/simplified-kubernetes-architecture-3febe12480eb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9780"/>
            <a:ext cx="10515600" cy="5397500"/>
          </a:xfrm>
        </p:spPr>
        <p:txBody>
          <a:bodyPr/>
          <a:p>
            <a:r>
              <a:rPr lang="en-US" altLang="en-US"/>
              <a:t>Four basic components of the master node(control plane):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API server</a:t>
            </a:r>
            <a:endParaRPr lang="en-US" altLang="en-US"/>
          </a:p>
          <a:p>
            <a:r>
              <a:rPr lang="en-US" altLang="en-US"/>
              <a:t>Scheduler</a:t>
            </a:r>
            <a:endParaRPr lang="en-US" altLang="en-US"/>
          </a:p>
          <a:p>
            <a:r>
              <a:rPr lang="en-US" altLang="en-US"/>
              <a:t>Controller manager</a:t>
            </a:r>
            <a:endParaRPr lang="en-US" altLang="en-US"/>
          </a:p>
          <a:p>
            <a:r>
              <a:rPr lang="en-US" altLang="en-US"/>
              <a:t>etcd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5215"/>
            <a:ext cx="10515600" cy="5092065"/>
          </a:xfrm>
        </p:spPr>
        <p:txBody>
          <a:bodyPr/>
          <a:p>
            <a:r>
              <a:rPr lang="en-US" altLang="en-US"/>
              <a:t>Three basic components of the Worker Node(Data plane)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Kubelet</a:t>
            </a:r>
            <a:endParaRPr lang="en-US" altLang="en-US"/>
          </a:p>
          <a:p>
            <a:r>
              <a:rPr lang="en-US" altLang="en-US"/>
              <a:t>Kube-proxy</a:t>
            </a:r>
            <a:endParaRPr lang="en-US" altLang="en-US"/>
          </a:p>
          <a:p>
            <a:r>
              <a:rPr lang="en-US" altLang="en-US"/>
              <a:t>Container runtime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1780"/>
            <a:ext cx="10515600" cy="690245"/>
          </a:xfrm>
        </p:spPr>
        <p:txBody>
          <a:bodyPr>
            <a:normAutofit fontScale="90000"/>
          </a:bodyPr>
          <a:p>
            <a:r>
              <a:rPr lang="en-US"/>
              <a:t>Architecture Components</a:t>
            </a:r>
            <a:endParaRPr lang="en-US"/>
          </a:p>
        </p:txBody>
      </p:sp>
      <p:pic>
        <p:nvPicPr>
          <p:cNvPr id="6" name="Picture 5" descr="Screenshot 2025-07-28 at 12.41.34 AM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920"/>
            <a:ext cx="12192000" cy="51892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3980" y="6326505"/>
            <a:ext cx="6497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https://kubernetes.io/docs/concepts/overview/components/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2765"/>
            <a:ext cx="10515600" cy="564451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API Server (kube-apiserver)</a:t>
            </a:r>
            <a:endParaRPr lang="en-US" altLang="en-US"/>
          </a:p>
          <a:p>
            <a:pPr lvl="1"/>
            <a:r>
              <a:rPr lang="en-US" altLang="en-US"/>
              <a:t>Central management entity</a:t>
            </a:r>
            <a:endParaRPr lang="en-US" altLang="en-US"/>
          </a:p>
          <a:p>
            <a:pPr lvl="1"/>
            <a:r>
              <a:rPr lang="en-US" altLang="en-US"/>
              <a:t>Handles all REST operations</a:t>
            </a:r>
            <a:endParaRPr lang="en-US" altLang="en-US"/>
          </a:p>
          <a:p>
            <a:pPr lvl="1"/>
            <a:r>
              <a:rPr lang="en-US" altLang="en-US"/>
              <a:t>Frontend to Kubernetes control plane</a:t>
            </a:r>
            <a:endParaRPr lang="en-US" altLang="en-US"/>
          </a:p>
          <a:p>
            <a:pPr lvl="1"/>
            <a:r>
              <a:rPr lang="en-US" altLang="en-US"/>
              <a:t>Validates and configures API objects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Functions:</a:t>
            </a:r>
            <a:endParaRPr lang="en-US" altLang="en-US"/>
          </a:p>
          <a:p>
            <a:pPr lvl="1"/>
            <a:r>
              <a:rPr lang="en-US" altLang="en-US"/>
              <a:t>Authentication and authorization</a:t>
            </a:r>
            <a:endParaRPr lang="en-US" altLang="en-US"/>
          </a:p>
          <a:p>
            <a:pPr lvl="1"/>
            <a:r>
              <a:rPr lang="en-US" altLang="en-US"/>
              <a:t>Request validation</a:t>
            </a:r>
            <a:endParaRPr lang="en-US" altLang="en-US"/>
          </a:p>
          <a:p>
            <a:pPr lvl="1"/>
            <a:r>
              <a:rPr lang="en-US" altLang="en-US"/>
              <a:t>Resource version management</a:t>
            </a:r>
            <a:endParaRPr lang="en-US" altLang="en-US"/>
          </a:p>
          <a:p>
            <a:pPr lvl="1"/>
            <a:r>
              <a:rPr lang="en-US" altLang="en-US"/>
              <a:t>Cluster state management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4550"/>
            <a:ext cx="10515600" cy="533273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etcd</a:t>
            </a:r>
            <a:endParaRPr lang="en-US" altLang="en-US"/>
          </a:p>
          <a:p>
            <a:pPr lvl="1"/>
            <a:r>
              <a:rPr lang="en-US" altLang="en-US"/>
              <a:t>Consistent and highly-available key-value store</a:t>
            </a:r>
            <a:endParaRPr lang="en-US" altLang="en-US"/>
          </a:p>
          <a:p>
            <a:pPr lvl="1"/>
            <a:r>
              <a:rPr lang="en-US" altLang="en-US"/>
              <a:t>Stores all cluster data</a:t>
            </a:r>
            <a:endParaRPr lang="en-US" altLang="en-US"/>
          </a:p>
          <a:p>
            <a:pPr lvl="1"/>
            <a:r>
              <a:rPr lang="en-US" altLang="en-US"/>
              <a:t>Source of truth for cluster state</a:t>
            </a:r>
            <a:endParaRPr lang="en-US" altLang="en-US"/>
          </a:p>
          <a:p>
            <a:pPr lvl="1"/>
            <a:r>
              <a:rPr lang="en-US" altLang="en-US"/>
              <a:t>Distributed across multiple nodes for HA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Key Features:</a:t>
            </a:r>
            <a:endParaRPr lang="en-US" altLang="en-US"/>
          </a:p>
          <a:p>
            <a:pPr lvl="1"/>
            <a:r>
              <a:rPr lang="en-US" altLang="en-US"/>
              <a:t>Strong consistency</a:t>
            </a:r>
            <a:endParaRPr lang="en-US" altLang="en-US"/>
          </a:p>
          <a:p>
            <a:pPr lvl="1"/>
            <a:r>
              <a:rPr lang="en-US" altLang="en-US"/>
              <a:t>High availability</a:t>
            </a:r>
            <a:endParaRPr lang="en-US" altLang="en-US"/>
          </a:p>
          <a:p>
            <a:pPr lvl="1"/>
            <a:r>
              <a:rPr lang="en-US" altLang="en-US"/>
              <a:t>Secure communication</a:t>
            </a:r>
            <a:endParaRPr lang="en-US" altLang="en-US"/>
          </a:p>
          <a:p>
            <a:pPr lvl="1"/>
            <a:r>
              <a:rPr lang="en-US" altLang="en-US"/>
              <a:t>Watch functionality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0075"/>
            <a:ext cx="10515600" cy="5577205"/>
          </a:xfrm>
        </p:spPr>
        <p:txBody>
          <a:bodyPr>
            <a:normAutofit/>
          </a:bodyPr>
          <a:p>
            <a:r>
              <a:rPr lang="en-US" altLang="en-US"/>
              <a:t>Controller Manager (kube-controller-manager)</a:t>
            </a:r>
            <a:endParaRPr lang="en-US" altLang="en-US"/>
          </a:p>
          <a:p>
            <a:pPr lvl="1"/>
            <a:r>
              <a:rPr lang="en-US" altLang="en-US"/>
              <a:t>Runs controller processes</a:t>
            </a:r>
            <a:endParaRPr lang="en-US" altLang="en-US"/>
          </a:p>
          <a:p>
            <a:pPr lvl="1"/>
            <a:r>
              <a:rPr lang="en-US" altLang="en-US"/>
              <a:t>Monitors cluster state</a:t>
            </a:r>
            <a:endParaRPr lang="en-US" altLang="en-US"/>
          </a:p>
          <a:p>
            <a:pPr lvl="1"/>
            <a:r>
              <a:rPr lang="en-US" altLang="en-US"/>
              <a:t>Makes changes to achieve desired state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Key Controllers:</a:t>
            </a:r>
            <a:endParaRPr lang="en-US" altLang="en-US"/>
          </a:p>
          <a:p>
            <a:pPr lvl="1"/>
            <a:r>
              <a:rPr lang="en-US" altLang="en-US"/>
              <a:t>Node Controller: Monitors node health</a:t>
            </a:r>
            <a:endParaRPr lang="en-US" altLang="en-US"/>
          </a:p>
          <a:p>
            <a:pPr lvl="1"/>
            <a:r>
              <a:rPr lang="en-US" altLang="en-US"/>
              <a:t>Replication Controller: Maintains pod replicas</a:t>
            </a:r>
            <a:endParaRPr lang="en-US" altLang="en-US"/>
          </a:p>
          <a:p>
            <a:pPr lvl="1"/>
            <a:r>
              <a:rPr lang="en-US" altLang="en-US"/>
              <a:t>Endpoints Controller: Manages service endpoints</a:t>
            </a:r>
            <a:endParaRPr lang="en-US" altLang="en-US"/>
          </a:p>
          <a:p>
            <a:pPr lvl="1"/>
            <a:r>
              <a:rPr lang="en-US" altLang="en-US"/>
              <a:t>Service Account Controller: Creates default accounts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6555"/>
            <a:ext cx="10515600" cy="5800725"/>
          </a:xfrm>
        </p:spPr>
        <p:txBody>
          <a:bodyPr>
            <a:normAutofit/>
          </a:bodyPr>
          <a:p>
            <a:r>
              <a:rPr lang="en-US" altLang="en-US"/>
              <a:t>Scheduler (kube-scheduler)</a:t>
            </a:r>
            <a:endParaRPr lang="en-US" altLang="en-US"/>
          </a:p>
          <a:p>
            <a:pPr lvl="1"/>
            <a:r>
              <a:rPr lang="en-US" altLang="en-US"/>
              <a:t>Assigns pods to nodes</a:t>
            </a:r>
            <a:endParaRPr lang="en-US" altLang="en-US"/>
          </a:p>
          <a:p>
            <a:pPr lvl="1"/>
            <a:r>
              <a:rPr lang="en-US" altLang="en-US"/>
              <a:t>Considers resource requirements</a:t>
            </a:r>
            <a:endParaRPr lang="en-US" altLang="en-US"/>
          </a:p>
          <a:p>
            <a:pPr lvl="1"/>
            <a:r>
              <a:rPr lang="en-US" altLang="en-US"/>
              <a:t>Implements scheduling policies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Scheduling Process:</a:t>
            </a:r>
            <a:endParaRPr lang="en-US" altLang="en-US"/>
          </a:p>
          <a:p>
            <a:pPr lvl="1"/>
            <a:r>
              <a:rPr lang="en-US" altLang="en-US"/>
              <a:t>1. Filtering: Find suitable nodes</a:t>
            </a:r>
            <a:endParaRPr lang="en-US" altLang="en-US"/>
          </a:p>
          <a:p>
            <a:pPr lvl="1"/>
            <a:r>
              <a:rPr lang="en-US" altLang="en-US"/>
              <a:t>2. Scoring: Rank filtered nodes</a:t>
            </a:r>
            <a:endParaRPr lang="en-US" altLang="en-US"/>
          </a:p>
          <a:p>
            <a:pPr lvl="1"/>
            <a:r>
              <a:rPr lang="en-US" altLang="en-US"/>
              <a:t>3. Selection: Choose best node</a:t>
            </a:r>
            <a:endParaRPr lang="en-US" altLang="en-US"/>
          </a:p>
          <a:p>
            <a:pPr lvl="1"/>
            <a:r>
              <a:rPr lang="en-US" altLang="en-US"/>
              <a:t>4. Binding: Assign pod to node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0295"/>
            <a:ext cx="10515600" cy="5086985"/>
          </a:xfrm>
        </p:spPr>
        <p:txBody>
          <a:bodyPr>
            <a:normAutofit/>
          </a:bodyPr>
          <a:p>
            <a:r>
              <a:rPr lang="en-US" altLang="en-US"/>
              <a:t>Worker Node (Slave) Components</a:t>
            </a:r>
            <a:endParaRPr lang="en-US" altLang="en-US"/>
          </a:p>
          <a:p>
            <a:pPr lvl="1"/>
            <a:r>
              <a:rPr lang="en-US" altLang="en-US"/>
              <a:t>kubelet</a:t>
            </a:r>
            <a:endParaRPr lang="en-US" altLang="en-US"/>
          </a:p>
          <a:p>
            <a:pPr lvl="1"/>
            <a:r>
              <a:rPr lang="en-US" altLang="en-US"/>
              <a:t>Primary node agent</a:t>
            </a:r>
            <a:endParaRPr lang="en-US" altLang="en-US"/>
          </a:p>
          <a:p>
            <a:pPr lvl="1"/>
            <a:r>
              <a:rPr lang="en-US" altLang="en-US"/>
              <a:t>Manages pods and containers</a:t>
            </a:r>
            <a:endParaRPr lang="en-US" altLang="en-US"/>
          </a:p>
          <a:p>
            <a:pPr lvl="1"/>
            <a:r>
              <a:rPr lang="en-US" altLang="en-US"/>
              <a:t>Monitors pod health</a:t>
            </a:r>
            <a:endParaRPr lang="en-US" altLang="en-US"/>
          </a:p>
          <a:p>
            <a:pPr lvl="1"/>
            <a:r>
              <a:rPr lang="en-US" altLang="en-US"/>
              <a:t>Reports node status to master</a:t>
            </a:r>
            <a:endParaRPr lang="en-US" altLang="en-US"/>
          </a:p>
          <a:p>
            <a:r>
              <a:rPr lang="en-US" altLang="en-US"/>
              <a:t>Responsibilities:</a:t>
            </a:r>
            <a:endParaRPr lang="en-US" altLang="en-US"/>
          </a:p>
          <a:p>
            <a:pPr lvl="1"/>
            <a:r>
              <a:rPr lang="en-US" altLang="en-US"/>
              <a:t>Pod lifecycle management</a:t>
            </a:r>
            <a:endParaRPr lang="en-US" altLang="en-US"/>
          </a:p>
          <a:p>
            <a:pPr lvl="1"/>
            <a:r>
              <a:rPr lang="en-US" altLang="en-US"/>
              <a:t>Container health checks</a:t>
            </a:r>
            <a:endParaRPr lang="en-US" altLang="en-US"/>
          </a:p>
          <a:p>
            <a:pPr lvl="1"/>
            <a:r>
              <a:rPr lang="en-US" altLang="en-US"/>
              <a:t>Resource monitoring</a:t>
            </a:r>
            <a:endParaRPr lang="en-US" altLang="en-US"/>
          </a:p>
          <a:p>
            <a:pPr lvl="1"/>
            <a:r>
              <a:rPr lang="en-US" altLang="en-US"/>
              <a:t>Volume mounting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0760"/>
            <a:ext cx="10515600" cy="5176520"/>
          </a:xfrm>
        </p:spPr>
        <p:txBody>
          <a:bodyPr>
            <a:normAutofit/>
          </a:bodyPr>
          <a:p>
            <a:r>
              <a:rPr lang="en-US" altLang="en-US"/>
              <a:t>kube-proxy</a:t>
            </a:r>
            <a:endParaRPr lang="en-US" altLang="en-US"/>
          </a:p>
          <a:p>
            <a:pPr lvl="1"/>
            <a:r>
              <a:rPr lang="en-US" altLang="en-US"/>
              <a:t>Network proxy running on each node</a:t>
            </a:r>
            <a:endParaRPr lang="en-US" altLang="en-US"/>
          </a:p>
          <a:p>
            <a:pPr lvl="1"/>
            <a:r>
              <a:rPr lang="en-US" altLang="en-US"/>
              <a:t>Maintains network rules</a:t>
            </a:r>
            <a:endParaRPr lang="en-US" altLang="en-US"/>
          </a:p>
          <a:p>
            <a:pPr lvl="1"/>
            <a:r>
              <a:rPr lang="en-US" altLang="en-US"/>
              <a:t>Enables service communication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Functions:</a:t>
            </a:r>
            <a:endParaRPr lang="en-US" altLang="en-US"/>
          </a:p>
          <a:p>
            <a:pPr lvl="1"/>
            <a:r>
              <a:rPr lang="en-US" altLang="en-US"/>
              <a:t>Load balancing</a:t>
            </a:r>
            <a:endParaRPr lang="en-US" altLang="en-US"/>
          </a:p>
          <a:p>
            <a:pPr lvl="1"/>
            <a:r>
              <a:rPr lang="en-US" altLang="en-US"/>
              <a:t>Service discovery</a:t>
            </a:r>
            <a:endParaRPr lang="en-US" altLang="en-US"/>
          </a:p>
          <a:p>
            <a:pPr lvl="1"/>
            <a:r>
              <a:rPr lang="en-US" altLang="en-US"/>
              <a:t>Network rule management</a:t>
            </a:r>
            <a:endParaRPr lang="en-US" altLang="en-US"/>
          </a:p>
          <a:p>
            <a:pPr lvl="1"/>
            <a:r>
              <a:rPr lang="en-US" altLang="en-US"/>
              <a:t>Traffic forwarding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90270"/>
            <a:ext cx="10515600" cy="5287010"/>
          </a:xfrm>
        </p:spPr>
        <p:txBody>
          <a:bodyPr/>
          <a:p>
            <a:r>
              <a:rPr lang="en-US" altLang="en-US"/>
              <a:t>Container Runtime</a:t>
            </a:r>
            <a:endParaRPr lang="en-US" altLang="en-US"/>
          </a:p>
          <a:p>
            <a:pPr lvl="1"/>
            <a:r>
              <a:rPr lang="en-US" altLang="en-US"/>
              <a:t>Runs containers</a:t>
            </a:r>
            <a:endParaRPr lang="en-US" altLang="en-US"/>
          </a:p>
          <a:p>
            <a:pPr lvl="1"/>
            <a:r>
              <a:rPr lang="en-US" altLang="en-US"/>
              <a:t>Supports multiple runtimes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Supported Runtimes:</a:t>
            </a:r>
            <a:endParaRPr lang="en-US" altLang="en-US"/>
          </a:p>
          <a:p>
            <a:pPr lvl="1"/>
            <a:r>
              <a:rPr lang="en-US" altLang="en-US"/>
              <a:t>Docker</a:t>
            </a:r>
            <a:endParaRPr lang="en-US" altLang="en-US"/>
          </a:p>
          <a:p>
            <a:pPr lvl="1"/>
            <a:r>
              <a:rPr lang="en-US" altLang="en-US"/>
              <a:t>containerd</a:t>
            </a:r>
            <a:endParaRPr lang="en-US" altLang="en-US"/>
          </a:p>
          <a:p>
            <a:pPr lvl="1"/>
            <a:r>
              <a:rPr lang="en-US" altLang="en-US"/>
              <a:t>CRI-O</a:t>
            </a:r>
            <a:endParaRPr lang="en-US" altLang="en-US"/>
          </a:p>
          <a:p>
            <a:pPr lvl="1"/>
            <a:r>
              <a:rPr lang="en-US" altLang="en-US"/>
              <a:t>Kata Containers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Architecture Flow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1. </a:t>
            </a:r>
            <a:r>
              <a:rPr lang="en-US" altLang="en-US" b="1">
                <a:solidFill>
                  <a:schemeClr val="tx1"/>
                </a:solidFill>
                <a:uFillTx/>
              </a:rPr>
              <a:t>User Request:</a:t>
            </a:r>
            <a:r>
              <a:rPr lang="en-US" altLang="en-US"/>
              <a:t> kubectl sends request to API server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</a:t>
            </a:r>
            <a:r>
              <a:rPr lang="en-US" altLang="en-US" b="1">
                <a:solidFill>
                  <a:schemeClr val="tx1"/>
                </a:solidFill>
                <a:uFillTx/>
              </a:rPr>
              <a:t>Authentication:</a:t>
            </a:r>
            <a:r>
              <a:rPr lang="en-US" altLang="en-US"/>
              <a:t> API server validates user credentials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</a:t>
            </a:r>
            <a:r>
              <a:rPr lang="en-US" altLang="en-US" b="1">
                <a:solidFill>
                  <a:schemeClr val="tx1"/>
                </a:solidFill>
                <a:uFillTx/>
              </a:rPr>
              <a:t>Authorization: </a:t>
            </a:r>
            <a:r>
              <a:rPr lang="en-US" altLang="en-US"/>
              <a:t>Check user permissions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 </a:t>
            </a:r>
            <a:r>
              <a:rPr lang="en-US" altLang="en-US" b="1">
                <a:solidFill>
                  <a:schemeClr val="tx1"/>
                </a:solidFill>
                <a:uFillTx/>
              </a:rPr>
              <a:t>Validation: </a:t>
            </a:r>
            <a:r>
              <a:rPr lang="en-US" altLang="en-US"/>
              <a:t>Validate request format and constraints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5. </a:t>
            </a:r>
            <a:r>
              <a:rPr lang="en-US" altLang="en-US" b="1">
                <a:solidFill>
                  <a:schemeClr val="tx1"/>
                </a:solidFill>
                <a:uFillTx/>
              </a:rPr>
              <a:t>Storage: </a:t>
            </a:r>
            <a:r>
              <a:rPr lang="en-US" altLang="en-US"/>
              <a:t>etcd stores the desired state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6. </a:t>
            </a:r>
            <a:r>
              <a:rPr lang="en-US" altLang="en-US" b="1">
                <a:solidFill>
                  <a:schemeClr val="tx1"/>
                </a:solidFill>
                <a:uFillTx/>
              </a:rPr>
              <a:t>Controller Action:</a:t>
            </a:r>
            <a:r>
              <a:rPr lang="en-US" altLang="en-US"/>
              <a:t> Controllers detect changes and act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7. </a:t>
            </a:r>
            <a:r>
              <a:rPr lang="en-US" altLang="en-US" b="1">
                <a:solidFill>
                  <a:schemeClr val="tx1"/>
                </a:solidFill>
                <a:uFillTx/>
              </a:rPr>
              <a:t>Scheduling:</a:t>
            </a:r>
            <a:r>
              <a:rPr lang="en-US" altLang="en-US"/>
              <a:t> Scheduler assigns pods to nodes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8. </a:t>
            </a:r>
            <a:r>
              <a:rPr lang="en-US" altLang="en-US" b="1">
                <a:solidFill>
                  <a:schemeClr val="tx1"/>
                </a:solidFill>
                <a:uFillTx/>
              </a:rPr>
              <a:t>Execution:</a:t>
            </a:r>
            <a:r>
              <a:rPr lang="en-US" altLang="en-US"/>
              <a:t> kubelet creates containers on nodes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9. </a:t>
            </a:r>
            <a:r>
              <a:rPr lang="en-US" altLang="en-US" b="1">
                <a:solidFill>
                  <a:schemeClr val="tx1"/>
                </a:solidFill>
                <a:uFillTx/>
              </a:rPr>
              <a:t>Monitoring:</a:t>
            </a:r>
            <a:r>
              <a:rPr lang="en-US" altLang="en-US"/>
              <a:t> Components report status back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Detailed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https://devopscube.com/kubernetes-architecture-explained/#control-plane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3018</Words>
  <Application>WPS Presentation</Application>
  <PresentationFormat>Widescreen</PresentationFormat>
  <Paragraphs>137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Helvetica Neue</vt:lpstr>
      <vt:lpstr>Microsoft YaHei</vt:lpstr>
      <vt:lpstr>汉仪旗黑</vt:lpstr>
      <vt:lpstr>Arial Unicode MS</vt:lpstr>
      <vt:lpstr>Calibri</vt:lpstr>
      <vt:lpstr>宋体-简</vt:lpstr>
      <vt:lpstr>Office Theme</vt:lpstr>
      <vt:lpstr>  Unit -1 Introduction to Kubernetes</vt:lpstr>
      <vt:lpstr>Unit-1 Topics</vt:lpstr>
      <vt:lpstr>Prerequisits Link</vt:lpstr>
      <vt:lpstr>Architecture</vt:lpstr>
      <vt:lpstr>PowerPoint 演示文稿</vt:lpstr>
      <vt:lpstr>PowerPoint 演示文稿</vt:lpstr>
      <vt:lpstr>PowerPoint 演示文稿</vt:lpstr>
      <vt:lpstr>Architecture Components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Detailed Architecture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divyathakur</dc:creator>
  <cp:lastModifiedBy>divyathakur</cp:lastModifiedBy>
  <cp:revision>37</cp:revision>
  <dcterms:created xsi:type="dcterms:W3CDTF">2025-08-03T16:56:19Z</dcterms:created>
  <dcterms:modified xsi:type="dcterms:W3CDTF">2025-08-03T16:56:19Z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F9095950C7D10AB1FD758668016C96DD_41</vt:lpwstr>
  </property>
  <property fmtid="{D5CDD505-2E9C-101B-9397-08002B2CF9AE}" pid="3" name="KSOProductBuildVer">
    <vt:lpwstr>1033-12.1.21937.21937</vt:lpwstr>
  </property>
</Properties>
</file>