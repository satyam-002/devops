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8" r:id="rId4"/>
    <p:sldId id="269" r:id="rId5"/>
    <p:sldId id="257" r:id="rId6"/>
    <p:sldId id="258" r:id="rId7"/>
    <p:sldId id="259" r:id="rId8"/>
    <p:sldId id="260" r:id="rId9"/>
    <p:sldId id="261" r:id="rId10"/>
    <p:sldId id="262"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Unit -1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Unit-1 Topics </a:t>
            </a:r>
            <a:endParaRPr lang="en-US"/>
          </a:p>
        </p:txBody>
      </p:sp>
      <p:sp>
        <p:nvSpPr>
          <p:cNvPr id="3" name="Content Placeholder 2"/>
          <p:cNvSpPr>
            <a:spLocks noGrp="1"/>
          </p:cNvSpPr>
          <p:nvPr>
            <p:ph idx="1"/>
          </p:nvPr>
        </p:nvSpPr>
        <p:spPr/>
        <p:txBody>
          <a:bodyPr/>
          <a:p>
            <a:r>
              <a:rPr lang="en-US" altLang="en-US"/>
              <a:t>Introduction to Kubernetes : </a:t>
            </a:r>
            <a:endParaRPr lang="en-US" altLang="en-US"/>
          </a:p>
          <a:p>
            <a:pPr lvl="1"/>
            <a:r>
              <a:rPr lang="en-US" altLang="en-US">
                <a:solidFill>
                  <a:schemeClr val="bg1"/>
                </a:solidFill>
                <a:highlight>
                  <a:srgbClr val="000000"/>
                </a:highlight>
              </a:rPr>
              <a:t>Containerization, </a:t>
            </a:r>
            <a:endParaRPr lang="en-US" altLang="en-US">
              <a:solidFill>
                <a:schemeClr val="bg1"/>
              </a:solidFill>
              <a:highlight>
                <a:srgbClr val="000000"/>
              </a:highlight>
            </a:endParaRPr>
          </a:p>
          <a:p>
            <a:pPr lvl="1"/>
            <a:r>
              <a:rPr lang="en-US" altLang="en-US">
                <a:solidFill>
                  <a:schemeClr val="bg1"/>
                </a:solidFill>
                <a:highlight>
                  <a:srgbClr val="000000"/>
                </a:highlight>
              </a:rPr>
              <a:t>Tools for Containerization,</a:t>
            </a:r>
            <a:endParaRPr lang="en-US" altLang="en-US">
              <a:solidFill>
                <a:schemeClr val="bg1"/>
              </a:solidFill>
              <a:highlight>
                <a:srgbClr val="000000"/>
              </a:highlight>
            </a:endParaRPr>
          </a:p>
          <a:p>
            <a:pPr lvl="1"/>
            <a:r>
              <a:rPr lang="en-US" altLang="en-US"/>
              <a:t>Kubernetes Overview, </a:t>
            </a:r>
            <a:endParaRPr lang="en-US" altLang="en-US"/>
          </a:p>
          <a:p>
            <a:pPr lvl="1"/>
            <a:r>
              <a:rPr lang="en-US" altLang="en-US"/>
              <a:t>Kubernetes Concept, </a:t>
            </a:r>
            <a:endParaRPr lang="en-US" altLang="en-US"/>
          </a:p>
          <a:p>
            <a:pPr lvl="1"/>
            <a:r>
              <a:rPr lang="en-US" altLang="en-US"/>
              <a:t>Use of Kubernetes, </a:t>
            </a:r>
            <a:endParaRPr lang="en-US" altLang="en-US"/>
          </a:p>
          <a:p>
            <a:pPr lvl="1"/>
            <a:r>
              <a:rPr lang="en-US" altLang="en-US"/>
              <a:t>Kubernetes Master-Slave Architecture.</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Prerequisits Link</a:t>
            </a:r>
            <a:endParaRPr lang="en-US"/>
          </a:p>
        </p:txBody>
      </p:sp>
      <p:sp>
        <p:nvSpPr>
          <p:cNvPr id="3" name="Content Placeholder 2"/>
          <p:cNvSpPr>
            <a:spLocks noGrp="1"/>
          </p:cNvSpPr>
          <p:nvPr>
            <p:ph idx="1"/>
          </p:nvPr>
        </p:nvSpPr>
        <p:spPr/>
        <p:txBody>
          <a:bodyPr/>
          <a:p>
            <a:r>
              <a:rPr lang="en-US" altLang="en-US"/>
              <a:t>https://devopscube.com/learn-kubernetes-complete-roadmap/?ref=devopscube.com</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90600"/>
          </a:xfrm>
        </p:spPr>
        <p:txBody>
          <a:bodyPr>
            <a:normAutofit fontScale="90000"/>
          </a:bodyPr>
          <a:p>
            <a:r>
              <a:rPr lang="en-US" altLang="en-US"/>
              <a:t>Containerization - Building the Foundation</a:t>
            </a:r>
            <a:endParaRPr lang="en-US" altLang="en-US"/>
          </a:p>
        </p:txBody>
      </p:sp>
      <p:sp>
        <p:nvSpPr>
          <p:cNvPr id="3" name="Content Placeholder 2"/>
          <p:cNvSpPr>
            <a:spLocks noGrp="1"/>
          </p:cNvSpPr>
          <p:nvPr>
            <p:ph idx="1"/>
          </p:nvPr>
        </p:nvSpPr>
        <p:spPr/>
        <p:txBody>
          <a:bodyPr/>
          <a:p>
            <a:r>
              <a:rPr lang="en-US" altLang="en-US"/>
              <a:t>Lightweight form of virtualization.</a:t>
            </a:r>
            <a:endParaRPr lang="en-US" altLang="en-US"/>
          </a:p>
          <a:p>
            <a:r>
              <a:rPr lang="en-US" altLang="en-US"/>
              <a:t>Packages applications and their dependencies into portable, self-contained units called containers.</a:t>
            </a:r>
            <a:endParaRPr lang="en-US" altLang="en-US"/>
          </a:p>
          <a:p>
            <a:r>
              <a:rPr lang="en-US" altLang="en-US"/>
              <a:t>Containers share the host OS kernel while maintaining isolated user spaces.</a:t>
            </a:r>
            <a:endParaRPr lang="en-US" altLang="en-US"/>
          </a:p>
          <a:p>
            <a:endParaRPr lang="en-US" altLang="en-US"/>
          </a:p>
          <a:p>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Real-World Analogy</a:t>
            </a:r>
            <a:endParaRPr lang="en-US"/>
          </a:p>
        </p:txBody>
      </p:sp>
      <p:sp>
        <p:nvSpPr>
          <p:cNvPr id="3" name="Content Placeholder 2"/>
          <p:cNvSpPr>
            <a:spLocks noGrp="1"/>
          </p:cNvSpPr>
          <p:nvPr>
            <p:ph idx="1"/>
          </p:nvPr>
        </p:nvSpPr>
        <p:spPr>
          <a:xfrm>
            <a:off x="838200" y="2438400"/>
            <a:ext cx="10515600" cy="2329180"/>
          </a:xfrm>
        </p:spPr>
        <p:txBody>
          <a:bodyPr/>
          <a:p>
            <a:pPr marL="0" indent="0">
              <a:buNone/>
            </a:pPr>
            <a:r>
              <a:rPr lang="en-US" altLang="en-US"/>
              <a:t>Think of containerization like shipping containers in the real world. Just as shipping containers standardize how goods are packaged and transported regardless of their contents, software containers package applications with everything they need to run consistently anywhere.</a:t>
            </a:r>
            <a:endParaRPr lang="en-US" altLang="en-US"/>
          </a:p>
          <a:p>
            <a:endParaRPr lang="en-US" altLang="en-US"/>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08330"/>
            <a:ext cx="10515600" cy="944245"/>
          </a:xfrm>
        </p:spPr>
        <p:txBody>
          <a:bodyPr>
            <a:normAutofit fontScale="90000"/>
          </a:bodyPr>
          <a:p>
            <a:r>
              <a:rPr lang="en-US" altLang="en-US"/>
              <a:t>Traditional Deployment Problems:</a:t>
            </a:r>
            <a:br>
              <a:rPr lang="en-US" altLang="en-US"/>
            </a:br>
            <a:endParaRPr lang="en-US"/>
          </a:p>
        </p:txBody>
      </p:sp>
      <p:sp>
        <p:nvSpPr>
          <p:cNvPr id="3" name="Content Placeholder 2"/>
          <p:cNvSpPr>
            <a:spLocks noGrp="1"/>
          </p:cNvSpPr>
          <p:nvPr>
            <p:ph idx="1"/>
          </p:nvPr>
        </p:nvSpPr>
        <p:spPr>
          <a:xfrm>
            <a:off x="838200" y="2830830"/>
            <a:ext cx="10515600" cy="3346450"/>
          </a:xfrm>
        </p:spPr>
        <p:txBody>
          <a:bodyPr/>
          <a:p>
            <a:r>
              <a:rPr lang="en-US" altLang="en-US"/>
              <a:t>"It works on my machine" syndrome.</a:t>
            </a:r>
            <a:endParaRPr lang="en-US" altLang="en-US"/>
          </a:p>
          <a:p>
            <a:r>
              <a:rPr lang="en-US" altLang="en-US"/>
              <a:t>Dependency conflicts.</a:t>
            </a:r>
            <a:endParaRPr lang="en-US" altLang="en-US"/>
          </a:p>
          <a:p>
            <a:r>
              <a:rPr lang="en-US" altLang="en-US"/>
              <a:t>Inconsistent environments.</a:t>
            </a:r>
            <a:endParaRPr lang="en-US" altLang="en-US"/>
          </a:p>
          <a:p>
            <a:r>
              <a:rPr lang="en-US" altLang="en-US"/>
              <a:t>Resource wastage.</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43890"/>
          </a:xfrm>
        </p:spPr>
        <p:txBody>
          <a:bodyPr>
            <a:normAutofit fontScale="90000"/>
          </a:bodyPr>
          <a:p>
            <a:r>
              <a:rPr lang="en-US" altLang="en-US"/>
              <a:t>Container Benefits</a:t>
            </a:r>
            <a:endParaRPr lang="en-US"/>
          </a:p>
        </p:txBody>
      </p:sp>
      <p:sp>
        <p:nvSpPr>
          <p:cNvPr id="3" name="Content Placeholder 2"/>
          <p:cNvSpPr>
            <a:spLocks noGrp="1"/>
          </p:cNvSpPr>
          <p:nvPr>
            <p:ph idx="1"/>
          </p:nvPr>
        </p:nvSpPr>
        <p:spPr>
          <a:xfrm>
            <a:off x="838200" y="1297305"/>
            <a:ext cx="10515600" cy="5196840"/>
          </a:xfrm>
        </p:spPr>
        <p:txBody>
          <a:bodyPr>
            <a:normAutofit fontScale="90000" lnSpcReduction="10000"/>
          </a:bodyPr>
          <a:p>
            <a:r>
              <a:rPr lang="en-US" altLang="en-US" b="1">
                <a:gradFill>
                  <a:gsLst>
                    <a:gs pos="0">
                      <a:srgbClr val="012D86"/>
                    </a:gs>
                    <a:gs pos="100000">
                      <a:srgbClr val="0E2557"/>
                    </a:gs>
                  </a:gsLst>
                  <a:lin scaled="0"/>
                </a:gradFill>
              </a:rPr>
              <a:t>Isolation:</a:t>
            </a:r>
            <a:r>
              <a:rPr lang="en-US" altLang="en-US"/>
              <a:t> </a:t>
            </a:r>
            <a:endParaRPr lang="en-US" altLang="en-US"/>
          </a:p>
          <a:p>
            <a:pPr lvl="1"/>
            <a:r>
              <a:rPr lang="en-US" altLang="en-US"/>
              <a:t>Each container runs in its own isolated environment with separate processes, network interfaces, and file systems</a:t>
            </a:r>
            <a:endParaRPr lang="en-US" altLang="en-US"/>
          </a:p>
          <a:p>
            <a:r>
              <a:rPr lang="en-US" altLang="en-US" b="1">
                <a:gradFill>
                  <a:gsLst>
                    <a:gs pos="0">
                      <a:srgbClr val="012D86"/>
                    </a:gs>
                    <a:gs pos="100000">
                      <a:srgbClr val="0E2557"/>
                    </a:gs>
                  </a:gsLst>
                  <a:lin scaled="0"/>
                </a:gradFill>
              </a:rPr>
              <a:t>Portability:</a:t>
            </a:r>
            <a:endParaRPr lang="en-US" altLang="en-US" b="1">
              <a:gradFill>
                <a:gsLst>
                  <a:gs pos="0">
                    <a:srgbClr val="012D86"/>
                  </a:gs>
                  <a:gs pos="100000">
                    <a:srgbClr val="0E2557"/>
                  </a:gs>
                </a:gsLst>
                <a:lin scaled="0"/>
              </a:gradFill>
            </a:endParaRPr>
          </a:p>
          <a:p>
            <a:pPr lvl="1"/>
            <a:r>
              <a:rPr lang="en-US" altLang="en-US"/>
              <a:t> Containers can run consistently across different environments (development, testing, production)</a:t>
            </a:r>
            <a:endParaRPr lang="en-US" altLang="en-US"/>
          </a:p>
          <a:p>
            <a:r>
              <a:rPr lang="en-US" altLang="en-US" b="1">
                <a:gradFill>
                  <a:gsLst>
                    <a:gs pos="0">
                      <a:srgbClr val="012D86"/>
                    </a:gs>
                    <a:gs pos="100000">
                      <a:srgbClr val="0E2557"/>
                    </a:gs>
                  </a:gsLst>
                  <a:lin scaled="0"/>
                </a:gradFill>
              </a:rPr>
              <a:t>Efficiency:</a:t>
            </a:r>
            <a:r>
              <a:rPr lang="en-US" altLang="en-US"/>
              <a:t> </a:t>
            </a:r>
            <a:endParaRPr lang="en-US" altLang="en-US"/>
          </a:p>
          <a:p>
            <a:pPr lvl="1"/>
            <a:r>
              <a:rPr lang="en-US" altLang="en-US"/>
              <a:t>Containers use fewer resources than VMs since they share the host OS kernel</a:t>
            </a:r>
            <a:endParaRPr lang="en-US" altLang="en-US"/>
          </a:p>
          <a:p>
            <a:r>
              <a:rPr lang="en-US" altLang="en-US" b="1">
                <a:gradFill>
                  <a:gsLst>
                    <a:gs pos="0">
                      <a:srgbClr val="012D86"/>
                    </a:gs>
                    <a:gs pos="100000">
                      <a:srgbClr val="0E2557"/>
                    </a:gs>
                  </a:gsLst>
                  <a:lin scaled="0"/>
                </a:gradFill>
              </a:rPr>
              <a:t>Scalability: </a:t>
            </a:r>
            <a:endParaRPr lang="en-US" altLang="en-US" b="1">
              <a:gradFill>
                <a:gsLst>
                  <a:gs pos="0">
                    <a:srgbClr val="012D86"/>
                  </a:gs>
                  <a:gs pos="100000">
                    <a:srgbClr val="0E2557"/>
                  </a:gs>
                </a:gsLst>
                <a:lin scaled="0"/>
              </a:gradFill>
            </a:endParaRPr>
          </a:p>
          <a:p>
            <a:pPr lvl="1"/>
            <a:r>
              <a:rPr lang="en-US" altLang="en-US"/>
              <a:t>Easy to scale applications up or down by creating or destroying container instances</a:t>
            </a:r>
            <a:endParaRPr lang="en-US" altLang="en-US"/>
          </a:p>
          <a:p>
            <a:r>
              <a:rPr lang="en-US" altLang="en-US" b="1">
                <a:gradFill>
                  <a:gsLst>
                    <a:gs pos="0">
                      <a:srgbClr val="012D86"/>
                    </a:gs>
                    <a:gs pos="100000">
                      <a:srgbClr val="0E2557"/>
                    </a:gs>
                  </a:gsLst>
                  <a:lin scaled="0"/>
                </a:gradFill>
              </a:rPr>
              <a:t>Consistency:</a:t>
            </a:r>
            <a:r>
              <a:rPr lang="en-US" altLang="en-US"/>
              <a:t> </a:t>
            </a:r>
            <a:endParaRPr lang="en-US" altLang="en-US"/>
          </a:p>
          <a:p>
            <a:pPr lvl="1"/>
            <a:r>
              <a:rPr lang="en-US" altLang="en-US"/>
              <a:t>Applications run the same way regardless of the underlying infrastructure</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4830" y="365125"/>
            <a:ext cx="10808970" cy="1325880"/>
          </a:xfrm>
        </p:spPr>
        <p:txBody>
          <a:bodyPr>
            <a:normAutofit fontScale="90000"/>
          </a:bodyPr>
          <a:p>
            <a:r>
              <a:rPr lang="en-US" altLang="en-US"/>
              <a:t>Real-World Example: E-commerce Application</a:t>
            </a:r>
            <a:endParaRPr lang="en-US"/>
          </a:p>
        </p:txBody>
      </p:sp>
      <p:sp>
        <p:nvSpPr>
          <p:cNvPr id="3" name="Content Placeholder 2"/>
          <p:cNvSpPr>
            <a:spLocks noGrp="1"/>
          </p:cNvSpPr>
          <p:nvPr>
            <p:ph idx="1"/>
          </p:nvPr>
        </p:nvSpPr>
        <p:spPr>
          <a:xfrm>
            <a:off x="838200" y="1825625"/>
            <a:ext cx="10515600" cy="4868545"/>
          </a:xfrm>
        </p:spPr>
        <p:txBody>
          <a:bodyPr>
            <a:normAutofit/>
          </a:bodyPr>
          <a:p>
            <a:r>
              <a:rPr lang="en-US" altLang="en-US" b="1">
                <a:gradFill>
                  <a:gsLst>
                    <a:gs pos="0">
                      <a:srgbClr val="012D86"/>
                    </a:gs>
                    <a:gs pos="100000">
                      <a:srgbClr val="0E2557"/>
                    </a:gs>
                  </a:gsLst>
                  <a:lin scaled="0"/>
                </a:gradFill>
              </a:rPr>
              <a:t>Without containers:</a:t>
            </a:r>
            <a:endParaRPr lang="en-US" altLang="en-US" b="1">
              <a:gradFill>
                <a:gsLst>
                  <a:gs pos="0">
                    <a:srgbClr val="012D86"/>
                  </a:gs>
                  <a:gs pos="100000">
                    <a:srgbClr val="0E2557"/>
                  </a:gs>
                </a:gsLst>
                <a:lin scaled="0"/>
              </a:gradFill>
            </a:endParaRPr>
          </a:p>
          <a:p>
            <a:pPr lvl="1"/>
            <a:r>
              <a:rPr lang="en-US" altLang="en-US"/>
              <a:t>Developer writes code on Windows laptop with Node.js v14</a:t>
            </a:r>
            <a:endParaRPr lang="en-US" altLang="en-US"/>
          </a:p>
          <a:p>
            <a:pPr lvl="1"/>
            <a:r>
              <a:rPr lang="en-US" altLang="en-US"/>
              <a:t>QA team tests on Linux servers with Node.js v16</a:t>
            </a:r>
            <a:endParaRPr lang="en-US" altLang="en-US"/>
          </a:p>
          <a:p>
            <a:pPr lvl="1"/>
            <a:r>
              <a:rPr lang="en-US" altLang="en-US"/>
              <a:t>Production runs on cloud with Node.js v12</a:t>
            </a:r>
            <a:endParaRPr lang="en-US" altLang="en-US"/>
          </a:p>
          <a:p>
            <a:pPr lvl="1"/>
            <a:r>
              <a:rPr lang="en-US" altLang="en-US"/>
              <a:t>Result: Different behavior in each environment, bugs appear in production</a:t>
            </a:r>
            <a:endParaRPr lang="en-US" altLang="en-US"/>
          </a:p>
          <a:p>
            <a:r>
              <a:rPr lang="en-US" altLang="en-US" b="1">
                <a:gradFill>
                  <a:gsLst>
                    <a:gs pos="0">
                      <a:srgbClr val="012D86"/>
                    </a:gs>
                    <a:gs pos="100000">
                      <a:srgbClr val="0E2557"/>
                    </a:gs>
                  </a:gsLst>
                  <a:lin scaled="0"/>
                </a:gradFill>
              </a:rPr>
              <a:t>With containers:</a:t>
            </a:r>
            <a:endParaRPr lang="en-US" altLang="en-US" b="1">
              <a:gradFill>
                <a:gsLst>
                  <a:gs pos="0">
                    <a:srgbClr val="012D86"/>
                  </a:gs>
                  <a:gs pos="100000">
                    <a:srgbClr val="0E2557"/>
                  </a:gs>
                </a:gsLst>
                <a:lin scaled="0"/>
              </a:gradFill>
            </a:endParaRPr>
          </a:p>
          <a:p>
            <a:pPr lvl="1"/>
            <a:r>
              <a:rPr lang="en-US" altLang="en-US"/>
              <a:t>Application packaged with exact Node.js version and dependencies</a:t>
            </a:r>
            <a:endParaRPr lang="en-US" altLang="en-US"/>
          </a:p>
          <a:p>
            <a:pPr lvl="1"/>
            <a:r>
              <a:rPr lang="en-US" altLang="en-US"/>
              <a:t>Same container image runs identically across all environments</a:t>
            </a:r>
            <a:endParaRPr lang="en-US" altLang="en-US"/>
          </a:p>
          <a:p>
            <a:pPr lvl="1"/>
            <a:r>
              <a:rPr lang="en-US" altLang="en-US"/>
              <a:t>Result: Consistent behavior, predictable deployments</a:t>
            </a:r>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26465"/>
          </a:xfrm>
        </p:spPr>
        <p:txBody>
          <a:bodyPr/>
          <a:p>
            <a:r>
              <a:rPr lang="en-US" altLang="en-US"/>
              <a:t>Tools for Containerization</a:t>
            </a:r>
            <a:endParaRPr lang="en-US" altLang="en-US"/>
          </a:p>
        </p:txBody>
      </p:sp>
      <p:sp>
        <p:nvSpPr>
          <p:cNvPr id="3" name="Content Placeholder 2"/>
          <p:cNvSpPr>
            <a:spLocks noGrp="1"/>
          </p:cNvSpPr>
          <p:nvPr>
            <p:ph idx="1"/>
          </p:nvPr>
        </p:nvSpPr>
        <p:spPr>
          <a:xfrm>
            <a:off x="838200" y="1555750"/>
            <a:ext cx="10515600" cy="4621530"/>
          </a:xfrm>
        </p:spPr>
        <p:txBody>
          <a:bodyPr>
            <a:normAutofit fontScale="90000"/>
          </a:bodyPr>
          <a:p>
            <a:r>
              <a:rPr lang="en-US" altLang="en-US"/>
              <a:t>Docker </a:t>
            </a:r>
            <a:endParaRPr lang="en-US" altLang="en-US"/>
          </a:p>
          <a:p>
            <a:r>
              <a:rPr lang="en-US" altLang="en-US"/>
              <a:t>Docker revolutionized containerization by making it accessible to developers.</a:t>
            </a:r>
            <a:endParaRPr lang="en-US" altLang="en-US"/>
          </a:p>
          <a:p>
            <a:r>
              <a:rPr lang="en-US" altLang="en-US"/>
              <a:t>Docker provides:</a:t>
            </a:r>
            <a:endParaRPr lang="en-US" altLang="en-US"/>
          </a:p>
          <a:p>
            <a:pPr lvl="1"/>
            <a:r>
              <a:rPr lang="en-US" altLang="en-US"/>
              <a:t>Docker Components:</a:t>
            </a:r>
            <a:endParaRPr lang="en-US" altLang="en-US"/>
          </a:p>
          <a:p>
            <a:pPr lvl="1"/>
            <a:r>
              <a:rPr lang="en-US" altLang="en-US"/>
              <a:t>Docker Engine: Core runtime that manages containers</a:t>
            </a:r>
            <a:endParaRPr lang="en-US" altLang="en-US"/>
          </a:p>
          <a:p>
            <a:pPr lvl="1"/>
            <a:r>
              <a:rPr lang="en-US" altLang="en-US"/>
              <a:t>Docker Images: Read-only templates for creating containers</a:t>
            </a:r>
            <a:endParaRPr lang="en-US" altLang="en-US"/>
          </a:p>
          <a:p>
            <a:pPr lvl="1"/>
            <a:r>
              <a:rPr lang="en-US" altLang="en-US"/>
              <a:t>Docker Containers: Running instances of images</a:t>
            </a:r>
            <a:endParaRPr lang="en-US" altLang="en-US"/>
          </a:p>
          <a:p>
            <a:pPr lvl="1"/>
            <a:r>
              <a:rPr lang="en-US" altLang="en-US"/>
              <a:t>Dockerfile: Text file with instructions to build images</a:t>
            </a:r>
            <a:endParaRPr lang="en-US" altLang="en-US"/>
          </a:p>
          <a:p>
            <a:pPr lvl="1"/>
            <a:r>
              <a:rPr lang="en-US" altLang="en-US"/>
              <a:t>Docker Hub: Cloud-based registry for sharing images</a:t>
            </a:r>
            <a:endParaRPr lang="en-US" altLang="en-US"/>
          </a:p>
          <a:p>
            <a:pPr lvl="1"/>
            <a:r>
              <a:rPr lang="en-US" altLang="en-US"/>
              <a:t>Docker Compose: Tool for defining multi-container applications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49960"/>
          </a:xfrm>
        </p:spPr>
        <p:txBody>
          <a:bodyPr/>
          <a:p>
            <a:r>
              <a:rPr lang="en-US" altLang="en-US"/>
              <a:t>Other containerization tools include:</a:t>
            </a:r>
            <a:endParaRPr lang="en-US" altLang="en-US"/>
          </a:p>
        </p:txBody>
      </p:sp>
      <p:sp>
        <p:nvSpPr>
          <p:cNvPr id="3" name="Content Placeholder 2"/>
          <p:cNvSpPr>
            <a:spLocks noGrp="1"/>
          </p:cNvSpPr>
          <p:nvPr>
            <p:ph idx="1"/>
          </p:nvPr>
        </p:nvSpPr>
        <p:spPr>
          <a:xfrm>
            <a:off x="838200" y="1520190"/>
            <a:ext cx="10515600" cy="5103495"/>
          </a:xfrm>
        </p:spPr>
        <p:txBody>
          <a:bodyPr>
            <a:normAutofit/>
          </a:bodyPr>
          <a:p>
            <a:r>
              <a:rPr lang="en-US" altLang="en-US"/>
              <a:t>Podman: </a:t>
            </a:r>
            <a:endParaRPr lang="en-US" altLang="en-US"/>
          </a:p>
          <a:p>
            <a:pPr lvl="1"/>
            <a:r>
              <a:rPr lang="en-US" altLang="en-US"/>
              <a:t>A daemonless container engine that's compatible with Docker</a:t>
            </a:r>
            <a:endParaRPr lang="en-US" altLang="en-US"/>
          </a:p>
          <a:p>
            <a:r>
              <a:rPr lang="en-US" altLang="en-US"/>
              <a:t>LXC/LXD: </a:t>
            </a:r>
            <a:endParaRPr lang="en-US" altLang="en-US"/>
          </a:p>
          <a:p>
            <a:pPr lvl="1"/>
            <a:r>
              <a:rPr lang="en-US" altLang="en-US"/>
              <a:t>Linux containers for system-level virtualization</a:t>
            </a:r>
            <a:endParaRPr lang="en-US" altLang="en-US"/>
          </a:p>
          <a:p>
            <a:r>
              <a:rPr lang="en-US" altLang="en-US"/>
              <a:t>rkt (rocket): </a:t>
            </a:r>
            <a:endParaRPr lang="en-US" altLang="en-US"/>
          </a:p>
          <a:p>
            <a:pPr lvl="1"/>
            <a:r>
              <a:rPr lang="en-US" altLang="en-US"/>
              <a:t>An application container engine focused on security and composability</a:t>
            </a:r>
            <a:endParaRPr lang="en-US" altLang="en-US"/>
          </a:p>
          <a:p>
            <a:r>
              <a:rPr lang="en-US" altLang="en-US"/>
              <a:t>containerd: </a:t>
            </a:r>
            <a:endParaRPr lang="en-US" altLang="en-US"/>
          </a:p>
          <a:p>
            <a:pPr lvl="1"/>
            <a:r>
              <a:rPr lang="en-US" altLang="en-US"/>
              <a:t>A container runtime that manages container lifecycle</a:t>
            </a:r>
            <a:endParaRPr lang="en-US" altLang="en-US"/>
          </a:p>
          <a:p>
            <a:r>
              <a:rPr lang="en-US" altLang="en-US"/>
              <a:t>CRI-O: </a:t>
            </a:r>
            <a:endParaRPr lang="en-US" altLang="en-US"/>
          </a:p>
          <a:p>
            <a:pPr lvl="1"/>
            <a:r>
              <a:rPr lang="en-US" altLang="en-US"/>
              <a:t>A lightweight container runtime specifically designed for Kubernetes</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2801</Words>
  <Application>WPS Writer</Application>
  <PresentationFormat>Widescreen</PresentationFormat>
  <Paragraphs>89</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Calibri Light</vt:lpstr>
      <vt:lpstr>Helvetica Neue</vt:lpstr>
      <vt:lpstr>Microsoft YaHei</vt:lpstr>
      <vt:lpstr>汉仪旗黑</vt:lpstr>
      <vt:lpstr>Arial Unicode MS</vt:lpstr>
      <vt:lpstr>Calibri</vt:lpstr>
      <vt:lpstr>Office Theme</vt:lpstr>
      <vt:lpstr>Unit -1</vt:lpstr>
      <vt:lpstr>Unit-1 Topics </vt:lpstr>
      <vt:lpstr>Prerequisits Link</vt:lpstr>
      <vt:lpstr>Containerization - Building the Foundation</vt:lpstr>
      <vt:lpstr>Real-World Analogy</vt:lpstr>
      <vt:lpstr>Traditional Deployment Problems: </vt:lpstr>
      <vt:lpstr>Container Benefits</vt:lpstr>
      <vt:lpstr>Real-World Example: E-commerce Application</vt:lpstr>
      <vt:lpstr>Tools for Containerization</vt:lpstr>
      <vt:lpstr>Other containerization tools include: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divyathakur</dc:creator>
  <cp:lastModifiedBy>divya thakur</cp:lastModifiedBy>
  <cp:revision>32</cp:revision>
  <dcterms:created xsi:type="dcterms:W3CDTF">2025-07-27T18:59:15Z</dcterms:created>
  <dcterms:modified xsi:type="dcterms:W3CDTF">2025-07-27T18:59:15Z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D7F4F4E20F8956171F58866894131940_41</vt:lpwstr>
  </property>
  <property fmtid="{D5CDD505-2E9C-101B-9397-08002B2CF9AE}" pid="3" name="KSOProductBuildVer">
    <vt:lpwstr>1033-12.1.21937.21937</vt:lpwstr>
  </property>
</Properties>
</file>