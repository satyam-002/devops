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7" r:id="rId4"/>
    <p:sldId id="273" r:id="rId5"/>
    <p:sldId id="262" r:id="rId6"/>
    <p:sldId id="261" r:id="rId7"/>
    <p:sldId id="260" r:id="rId8"/>
    <p:sldId id="259" r:id="rId9"/>
    <p:sldId id="258" r:id="rId10"/>
    <p:sldId id="264" r:id="rId11"/>
    <p:sldId id="265" r:id="rId12"/>
    <p:sldId id="266" r:id="rId13"/>
    <p:sldId id="267" r:id="rId14"/>
    <p:sldId id="274" r:id="rId15"/>
    <p:sldId id="275" r:id="rId16"/>
    <p:sldId id="277" r:id="rId17"/>
    <p:sldId id="268" r:id="rId18"/>
    <p:sldId id="270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11350"/>
            <a:ext cx="9144000" cy="2199005"/>
          </a:xfrm>
        </p:spPr>
        <p:txBody>
          <a:bodyPr>
            <a:normAutofit fontScale="90000"/>
          </a:bodyPr>
          <a:p>
            <a:br>
              <a:rPr lang="en-US" altLang="en-US" sz="4400"/>
            </a:br>
            <a:br>
              <a:rPr lang="en-US" altLang="en-US" sz="4400"/>
            </a:br>
            <a:r>
              <a:rPr lang="en-US" altLang="en-US" sz="4400"/>
              <a:t>Unit -1</a:t>
            </a:r>
            <a:br>
              <a:rPr lang="en-US" altLang="en-US" sz="4400"/>
            </a:br>
            <a:r>
              <a:rPr lang="en-US" altLang="en-US" sz="4400"/>
              <a:t>Introduction to Kubernetes</a:t>
            </a:r>
            <a:endParaRPr lang="en-US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Unit-1 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>
                <a:sym typeface="+mn-ea"/>
              </a:rPr>
              <a:t>Introduction to Kubernetes : 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Containerization, 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Tools for Containerization,</a:t>
            </a:r>
            <a:endParaRPr lang="en-US" altLang="en-US" sz="2800"/>
          </a:p>
          <a:p>
            <a:pPr lvl="1"/>
            <a:r>
              <a:rPr lang="en-US" altLang="en-US" sz="2800">
                <a:solidFill>
                  <a:schemeClr val="tx1"/>
                </a:solidFill>
                <a:sym typeface="+mn-ea"/>
              </a:rPr>
              <a:t>Kubernetes Overview,</a:t>
            </a:r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Kubernetes Concept, 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Use of Kubernetes, 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 sz="2800">
                <a:sym typeface="+mn-ea"/>
              </a:rPr>
              <a:t>Kubernetes Master-Slave Architecture.</a:t>
            </a:r>
            <a:endParaRPr lang="en-US" altLang="en-US" sz="2800">
              <a:sym typeface="+mn-ea"/>
            </a:endParaRPr>
          </a:p>
          <a:p>
            <a:pPr marL="457200" lvl="1" indent="0">
              <a:buNone/>
            </a:pPr>
            <a:endParaRPr lang="en-US" alt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Prerequisits Link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https://devopscube.com/learn-kubernetes-complete-roadmap/?ref=devopscube.com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Screenshot 2025-07-28 at 12.00.0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440"/>
          </a:xfrm>
        </p:spPr>
        <p:txBody>
          <a:bodyPr>
            <a:normAutofit fontScale="90000"/>
          </a:bodyPr>
          <a:p>
            <a:r>
              <a:rPr lang="en-US" altLang="en-US"/>
              <a:t>Pod - The Atomic Unit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735"/>
            <a:ext cx="10515600" cy="4974590"/>
          </a:xfrm>
        </p:spPr>
        <p:txBody>
          <a:bodyPr>
            <a:normAutofit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Apartment Analogy: Think of a Pod like a shared apartment: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Multiple containers (roommates) share the same network (WiFi) and storage (kitchen)</a:t>
            </a:r>
            <a:endParaRPr lang="en-US" altLang="en-US"/>
          </a:p>
          <a:p>
            <a:pPr lvl="1"/>
            <a:r>
              <a:rPr lang="en-US" altLang="en-US"/>
              <a:t>They can communicate easily (localhost)</a:t>
            </a:r>
            <a:endParaRPr lang="en-US" altLang="en-US"/>
          </a:p>
          <a:p>
            <a:pPr lvl="1"/>
            <a:r>
              <a:rPr lang="en-US" altLang="en-US"/>
              <a:t>They're scheduled together (same building)</a:t>
            </a:r>
            <a:endParaRPr lang="en-US" altLang="en-US"/>
          </a:p>
          <a:p>
            <a:pPr lvl="1"/>
            <a:r>
              <a:rPr lang="en-US" altLang="en-US"/>
              <a:t>If the apartment is destroyed, all roommates are affected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Pod Characteristics: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Shared Network: All containers in a pod share the same IP address</a:t>
            </a:r>
            <a:endParaRPr lang="en-US" altLang="en-US"/>
          </a:p>
          <a:p>
            <a:pPr lvl="1"/>
            <a:r>
              <a:rPr lang="en-US" altLang="en-US"/>
              <a:t>Shared Storage: Containers can share volumes for data exchange</a:t>
            </a:r>
            <a:endParaRPr lang="en-US" altLang="en-US"/>
          </a:p>
          <a:p>
            <a:pPr lvl="1"/>
            <a:r>
              <a:rPr lang="en-US" altLang="en-US"/>
              <a:t>Lifecycle: Containers in a pod are created and destroyed together</a:t>
            </a:r>
            <a:endParaRPr lang="en-US" altLang="en-US"/>
          </a:p>
          <a:p>
            <a:pPr lvl="1"/>
            <a:r>
              <a:rPr lang="en-US" altLang="en-US"/>
              <a:t>Communication: Containers communicate via localhost</a:t>
            </a:r>
            <a:endParaRPr lang="en-US" altLang="en-US"/>
          </a:p>
          <a:p>
            <a:pPr lvl="1"/>
            <a:r>
              <a:rPr lang="en-US" altLang="en-US"/>
              <a:t>Scheduling: Pod is the unit of scheduling, not individual containers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7385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Real-World Pod Examples: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1595"/>
            <a:ext cx="10515600" cy="52222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1. Web Application Pod: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Main container: Web server (nginx)</a:t>
            </a:r>
            <a:endParaRPr lang="en-US" altLang="en-US"/>
          </a:p>
          <a:p>
            <a:pPr lvl="1"/>
            <a:r>
              <a:rPr lang="en-US" altLang="en-US"/>
              <a:t>Sidecar container: Log collector (fluentd)</a:t>
            </a:r>
            <a:endParaRPr lang="en-US" altLang="en-US"/>
          </a:p>
          <a:p>
            <a:pPr lvl="1"/>
            <a:r>
              <a:rPr lang="en-US" altLang="en-US"/>
              <a:t>Shared volume: Log files</a:t>
            </a:r>
            <a:endParaRPr lang="en-US" altLang="en-US"/>
          </a:p>
          <a:p>
            <a:pPr lvl="1"/>
            <a:r>
              <a:rPr lang="en-US" altLang="en-US"/>
              <a:t>Use case: Web server writes logs, sidecar ships them to central logging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2. Database Pod: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Main container: Database (PostgreSQL)</a:t>
            </a:r>
            <a:endParaRPr lang="en-US" altLang="en-US"/>
          </a:p>
          <a:p>
            <a:pPr lvl="1"/>
            <a:r>
              <a:rPr lang="en-US" altLang="en-US"/>
              <a:t>Init container: Database migration scripts</a:t>
            </a:r>
            <a:endParaRPr lang="en-US" altLang="en-US"/>
          </a:p>
          <a:p>
            <a:pPr lvl="1"/>
            <a:r>
              <a:rPr lang="en-US" altLang="en-US"/>
              <a:t>Shared volume: Database data</a:t>
            </a:r>
            <a:endParaRPr lang="en-US" altLang="en-US"/>
          </a:p>
          <a:p>
            <a:pPr lvl="1"/>
            <a:r>
              <a:rPr lang="en-US" altLang="en-US"/>
              <a:t>Use case: Init container prepares database before main container starts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540"/>
          </a:xfrm>
        </p:spPr>
        <p:txBody>
          <a:bodyPr/>
          <a:p>
            <a:r>
              <a:rPr lang="en-US" altLang="en-US">
                <a:sym typeface="+mn-ea"/>
              </a:rPr>
              <a:t>Service - The Network Abstraction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210"/>
            <a:ext cx="10515600" cy="475107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Restaurant Phone Number Analogy: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Service = Restaurant phone number (stable, doesn't change)</a:t>
            </a:r>
            <a:endParaRPr lang="en-US" altLang="en-US"/>
          </a:p>
          <a:p>
            <a:pPr lvl="1"/>
            <a:r>
              <a:rPr lang="en-US" altLang="en-US"/>
              <a:t>Pods = Chefs (can change, but customers don't care which chef cooks)</a:t>
            </a:r>
            <a:endParaRPr lang="en-US" altLang="en-US"/>
          </a:p>
          <a:p>
            <a:pPr lvl="1"/>
            <a:r>
              <a:rPr lang="en-US" altLang="en-US"/>
              <a:t>Load balancing = Host assigns customers to available chefs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Service Types: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ClusterIP: Internal communication within cluster</a:t>
            </a:r>
            <a:endParaRPr lang="en-US" altLang="en-US"/>
          </a:p>
          <a:p>
            <a:pPr lvl="1"/>
            <a:r>
              <a:rPr lang="en-US" altLang="en-US"/>
              <a:t>NodePort: Exposes service on each node's IP at a static port</a:t>
            </a:r>
            <a:endParaRPr lang="en-US" altLang="en-US"/>
          </a:p>
          <a:p>
            <a:pPr lvl="1"/>
            <a:r>
              <a:rPr lang="en-US" altLang="en-US"/>
              <a:t>LoadBalancer: Exposes service externally using cloud provider's load balancer</a:t>
            </a:r>
            <a:endParaRPr lang="en-US" altLang="en-US"/>
          </a:p>
          <a:p>
            <a:pPr lvl="1"/>
            <a:r>
              <a:rPr lang="en-US" altLang="en-US"/>
              <a:t>ExternalName: Maps service to external DNS name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Deployment vs ReplicaSet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740"/>
            <a:ext cx="10515600" cy="49974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ReplicaSet: "I want exactly 3 copies of my application running"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Ensures specified number of pod replicas are running</a:t>
            </a:r>
            <a:endParaRPr lang="en-US" altLang="en-US"/>
          </a:p>
          <a:p>
            <a:pPr lvl="1"/>
            <a:r>
              <a:rPr lang="en-US" altLang="en-US"/>
              <a:t>Replaces failed pods automatically</a:t>
            </a:r>
            <a:endParaRPr lang="en-US" altLang="en-US"/>
          </a:p>
          <a:p>
            <a:pPr lvl="1"/>
            <a:r>
              <a:rPr lang="en-US" altLang="en-US"/>
              <a:t>Basic scaling capabilities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Deployment: "I want 3 copies, and when I update, do it gradually without downtime"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Manages ReplicaSets</a:t>
            </a:r>
            <a:endParaRPr lang="en-US" altLang="en-US"/>
          </a:p>
          <a:p>
            <a:pPr lvl="1"/>
            <a:r>
              <a:rPr lang="en-US" altLang="en-US"/>
              <a:t>Provides rolling updates and rollbacks</a:t>
            </a:r>
            <a:endParaRPr lang="en-US" altLang="en-US"/>
          </a:p>
          <a:p>
            <a:pPr lvl="1"/>
            <a:r>
              <a:rPr lang="en-US" altLang="en-US"/>
              <a:t>Declarative updates for applications</a:t>
            </a:r>
            <a:endParaRPr lang="en-US" altLang="en-US"/>
          </a:p>
          <a:p>
            <a:pPr lvl="1"/>
            <a:r>
              <a:rPr lang="en-US" altLang="en-US"/>
              <a:t>Deployment history and revision management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95" y="365125"/>
            <a:ext cx="11678920" cy="1325880"/>
          </a:xfrm>
        </p:spPr>
        <p:txBody>
          <a:bodyPr>
            <a:normAutofit fontScale="90000"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Real Scenario: E-commerce Site During Black Friday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60" y="2225040"/>
            <a:ext cx="11115040" cy="3281680"/>
          </a:xfrm>
        </p:spPr>
        <p:txBody>
          <a:bodyPr>
            <a:normAutofit/>
          </a:bodyPr>
          <a:p>
            <a:r>
              <a:rPr lang="en-US" altLang="en-US"/>
              <a:t>Normal traffic: 3 pod replicas handle regular load</a:t>
            </a:r>
            <a:endParaRPr lang="en-US" altLang="en-US"/>
          </a:p>
          <a:p>
            <a:r>
              <a:rPr lang="en-US" altLang="en-US"/>
              <a:t>Traffic spike detected: Deployment scales to 10 replicas automatically</a:t>
            </a:r>
            <a:endParaRPr lang="en-US" altLang="en-US"/>
          </a:p>
          <a:p>
            <a:r>
              <a:rPr lang="en-US" altLang="en-US"/>
              <a:t>New version ready: Rolling update replaces pods one by one</a:t>
            </a:r>
            <a:endParaRPr lang="en-US" altLang="en-US"/>
          </a:p>
          <a:p>
            <a:r>
              <a:rPr lang="en-US" altLang="en-US"/>
              <a:t>Issue detected: Rollback to previous version instantly</a:t>
            </a:r>
            <a:endParaRPr lang="en-US" altLang="en-US"/>
          </a:p>
          <a:p>
            <a:r>
              <a:rPr lang="en-US" altLang="en-US"/>
              <a:t>Traffic normalizes: Scale back to 3 replicas to save resources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815"/>
          </a:xfrm>
        </p:spPr>
        <p:txBody>
          <a:bodyPr>
            <a:normAutofit fontScale="90000"/>
          </a:bodyPr>
          <a:p>
            <a:r>
              <a:rPr lang="en-US" altLang="en-US"/>
              <a:t>Other Key Concepts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190"/>
            <a:ext cx="10515600" cy="5186045"/>
          </a:xfrm>
        </p:spPr>
        <p:txBody>
          <a:bodyPr>
            <a:normAutofit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Namespace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Virtual clusters within a physical cluster</a:t>
            </a:r>
            <a:endParaRPr lang="en-US" altLang="en-US"/>
          </a:p>
          <a:p>
            <a:pPr lvl="1"/>
            <a:r>
              <a:rPr lang="en-US" altLang="en-US"/>
              <a:t>Resource isolation and organization</a:t>
            </a:r>
            <a:endParaRPr lang="en-US" altLang="en-US"/>
          </a:p>
          <a:p>
            <a:pPr lvl="1"/>
            <a:r>
              <a:rPr lang="en-US" altLang="en-US"/>
              <a:t>Example: separate namespaces for production, staging, development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ConfigMap and Secret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ConfigMap: Non-sensitive configuration data</a:t>
            </a:r>
            <a:endParaRPr lang="en-US" altLang="en-US"/>
          </a:p>
          <a:p>
            <a:pPr lvl="1"/>
            <a:r>
              <a:rPr lang="en-US" altLang="en-US"/>
              <a:t>Secret: Sensitive information (passwords, tokens, keys)</a:t>
            </a:r>
            <a:endParaRPr lang="en-US" altLang="en-US"/>
          </a:p>
          <a:p>
            <a:pPr lvl="1"/>
            <a:r>
              <a:rPr lang="en-US" altLang="en-US"/>
              <a:t>Both can be mounted as volumes or environment variables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Volume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Provides persistent storage for pods</a:t>
            </a:r>
            <a:endParaRPr lang="en-US" altLang="en-US"/>
          </a:p>
          <a:p>
            <a:pPr lvl="1"/>
            <a:r>
              <a:rPr lang="en-US" altLang="en-US"/>
              <a:t>Types: emptyDir, hostPath, persistentVolume, cloud storage</a:t>
            </a:r>
            <a:endParaRPr lang="en-US" altLang="en-US"/>
          </a:p>
          <a:p>
            <a:pPr lvl="1"/>
            <a:r>
              <a:rPr lang="en-US" altLang="en-US"/>
              <a:t>Survives container restarts within a pod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440"/>
          </a:xfrm>
        </p:spPr>
        <p:txBody>
          <a:bodyPr>
            <a:normAutofit fontScale="90000"/>
          </a:bodyPr>
          <a:p>
            <a:r>
              <a:rPr lang="en-US" altLang="en-US"/>
              <a:t>Kubernetes Use Cases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740"/>
            <a:ext cx="10515600" cy="457454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Traditional Monolith Problems: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Large codebase: Single application becomes massive and hard to maintain</a:t>
            </a:r>
            <a:endParaRPr lang="en-US" altLang="en-US"/>
          </a:p>
          <a:p>
            <a:pPr lvl="1"/>
            <a:r>
              <a:rPr lang="en-US" altLang="en-US"/>
              <a:t>Single point of failure: One bug can crash entire application</a:t>
            </a:r>
            <a:endParaRPr lang="en-US" altLang="en-US"/>
          </a:p>
          <a:p>
            <a:pPr lvl="1"/>
            <a:r>
              <a:rPr lang="en-US" altLang="en-US"/>
              <a:t>Scaling inefficiency: Must scale entire application even if only one component needs resources</a:t>
            </a:r>
            <a:endParaRPr lang="en-US" altLang="en-US"/>
          </a:p>
          <a:p>
            <a:pPr lvl="1"/>
            <a:r>
              <a:rPr lang="en-US" altLang="en-US"/>
              <a:t>Technology lock-in: Entire application must use same technology stack</a:t>
            </a:r>
            <a:endParaRPr lang="en-US" altLang="en-US"/>
          </a:p>
          <a:p>
            <a:pPr lvl="1"/>
            <a:r>
              <a:rPr lang="en-US" altLang="en-US"/>
              <a:t>Team dependencies: Teams must coordinate changes to shared codebase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7-28 at 12.12.06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10" y="975360"/>
            <a:ext cx="10287000" cy="58826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892550" y="298450"/>
            <a:ext cx="4617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Microservices Architecture</a:t>
            </a:r>
            <a:endParaRPr lang="en-US" altLang="en-US" sz="24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070"/>
          </a:xfrm>
        </p:spPr>
        <p:txBody>
          <a:bodyPr/>
          <a:p>
            <a:r>
              <a:rPr lang="en-US"/>
              <a:t>Use Cases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Microservices Architecture</a:t>
            </a:r>
            <a:endParaRPr lang="en-US" altLang="en-US"/>
          </a:p>
          <a:p>
            <a:pPr lvl="1"/>
            <a:r>
              <a:rPr lang="en-US" altLang="en-US"/>
              <a:t>Break monolithic applications into smaller services</a:t>
            </a:r>
            <a:endParaRPr lang="en-US" altLang="en-US"/>
          </a:p>
          <a:p>
            <a:pPr lvl="1"/>
            <a:r>
              <a:rPr lang="en-US" altLang="en-US"/>
              <a:t>Independent scaling and deployment</a:t>
            </a:r>
            <a:endParaRPr lang="en-US" altLang="en-US"/>
          </a:p>
          <a:p>
            <a:pPr lvl="1"/>
            <a:r>
              <a:rPr lang="en-US" altLang="en-US"/>
              <a:t>Better fault isolation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2. CI/CD Pipeline Integration</a:t>
            </a:r>
            <a:endParaRPr lang="en-US" altLang="en-US"/>
          </a:p>
          <a:p>
            <a:pPr lvl="1"/>
            <a:r>
              <a:rPr lang="en-US" altLang="en-US"/>
              <a:t>Automated testing environments</a:t>
            </a:r>
            <a:endParaRPr lang="en-US" altLang="en-US"/>
          </a:p>
          <a:p>
            <a:pPr lvl="1"/>
            <a:r>
              <a:rPr lang="en-US" altLang="en-US"/>
              <a:t>Blue-green deployments</a:t>
            </a:r>
            <a:endParaRPr lang="en-US" altLang="en-US"/>
          </a:p>
          <a:p>
            <a:pPr lvl="1"/>
            <a:r>
              <a:rPr lang="en-US" altLang="en-US"/>
              <a:t>Canary releases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4830"/>
            <a:ext cx="10515600" cy="5632450"/>
          </a:xfrm>
        </p:spPr>
        <p:txBody>
          <a:bodyPr/>
          <a:p>
            <a:pPr marL="0" indent="0">
              <a:buNone/>
            </a:pPr>
            <a:r>
              <a:rPr lang="en-US" altLang="en-US"/>
              <a:t>3. Multi-Cloud Deployments</a:t>
            </a:r>
            <a:endParaRPr lang="en-US" altLang="en-US"/>
          </a:p>
          <a:p>
            <a:pPr lvl="1"/>
            <a:r>
              <a:rPr lang="en-US" altLang="en-US"/>
              <a:t>Run applications across different cloud providers</a:t>
            </a:r>
            <a:endParaRPr lang="en-US" altLang="en-US"/>
          </a:p>
          <a:p>
            <a:pPr lvl="1"/>
            <a:r>
              <a:rPr lang="en-US" altLang="en-US"/>
              <a:t>Avoid vendor lock-in</a:t>
            </a:r>
            <a:endParaRPr lang="en-US" altLang="en-US"/>
          </a:p>
          <a:p>
            <a:pPr lvl="1"/>
            <a:r>
              <a:rPr lang="en-US" altLang="en-US"/>
              <a:t>Disaster recovery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Auto-scaling</a:t>
            </a:r>
            <a:endParaRPr lang="en-US" altLang="en-US"/>
          </a:p>
          <a:p>
            <a:pPr lvl="1"/>
            <a:r>
              <a:rPr lang="en-US" altLang="en-US"/>
              <a:t>Horizontal Pod Autoscaler (HPA)</a:t>
            </a:r>
            <a:endParaRPr lang="en-US" altLang="en-US"/>
          </a:p>
          <a:p>
            <a:pPr lvl="1"/>
            <a:r>
              <a:rPr lang="en-US" altLang="en-US"/>
              <a:t>Vertical Pod Autoscaler (VPA)</a:t>
            </a:r>
            <a:endParaRPr lang="en-US" altLang="en-US"/>
          </a:p>
          <a:p>
            <a:pPr lvl="1"/>
            <a:r>
              <a:rPr lang="en-US" altLang="en-US"/>
              <a:t>Cluster Autoscaler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5. Resource Optimization</a:t>
            </a:r>
            <a:endParaRPr lang="en-US" altLang="en-US"/>
          </a:p>
          <a:p>
            <a:pPr lvl="1"/>
            <a:r>
              <a:rPr lang="en-US" altLang="en-US"/>
              <a:t>Efficient resource utilization</a:t>
            </a:r>
            <a:endParaRPr lang="en-US" altLang="en-US"/>
          </a:p>
          <a:p>
            <a:pPr lvl="1"/>
            <a:r>
              <a:rPr lang="en-US" altLang="en-US"/>
              <a:t>Cost optimization</a:t>
            </a:r>
            <a:endParaRPr lang="en-US" altLang="en-US"/>
          </a:p>
          <a:p>
            <a:pPr lvl="1"/>
            <a:r>
              <a:rPr lang="en-US" altLang="en-US"/>
              <a:t>Performance improvement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0760"/>
            <a:ext cx="10515600" cy="2658110"/>
          </a:xfrm>
        </p:spPr>
        <p:txBody>
          <a:bodyPr/>
          <a:p>
            <a:pPr marL="0" indent="0">
              <a:buNone/>
            </a:pPr>
            <a:r>
              <a:rPr lang="en-US" altLang="en-US"/>
              <a:t>6.Industry Adoption</a:t>
            </a:r>
            <a:endParaRPr lang="en-US" altLang="en-US"/>
          </a:p>
          <a:p>
            <a:pPr lvl="1"/>
            <a:r>
              <a:rPr lang="en-US" altLang="en-US"/>
              <a:t>Netflix: Manages thousands of microservices</a:t>
            </a:r>
            <a:endParaRPr lang="en-US" altLang="en-US"/>
          </a:p>
          <a:p>
            <a:pPr lvl="1"/>
            <a:r>
              <a:rPr lang="en-US" altLang="en-US"/>
              <a:t>Uber: Handles massive scale operations</a:t>
            </a:r>
            <a:endParaRPr lang="en-US" altLang="en-US"/>
          </a:p>
          <a:p>
            <a:pPr lvl="1"/>
            <a:r>
              <a:rPr lang="en-US" altLang="en-US"/>
              <a:t>Airbnb: Manages complex deployment pipeline</a:t>
            </a:r>
            <a:endParaRPr lang="en-US" altLang="en-US"/>
          </a:p>
          <a:p>
            <a:pPr lvl="1"/>
            <a:r>
              <a:rPr lang="en-US" altLang="en-US"/>
              <a:t>Spotify: Handles music streaming infrastructure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9935"/>
          </a:xfrm>
        </p:spPr>
        <p:txBody>
          <a:bodyPr/>
          <a:p>
            <a:r>
              <a:rPr lang="en-US" altLang="en-US">
                <a:sym typeface="+mn-ea"/>
              </a:rPr>
              <a:t>Benefits Demonstrated: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210"/>
            <a:ext cx="10515600" cy="4751070"/>
          </a:xfrm>
        </p:spPr>
        <p:txBody>
          <a:bodyPr>
            <a:normAutofit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Independent Scaling: 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Product service gets more resources during sales events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Technology Diversity: 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Each service uses the best technology for its needs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Team Autonomy: 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Each team owns their service's complete lifecycle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Fault Isolation: 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Payment service issues don't crash the product catalog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Independent Deployment:</a:t>
            </a:r>
            <a:r>
              <a:rPr lang="en-US" altLang="en-US"/>
              <a:t> </a:t>
            </a:r>
            <a:endParaRPr lang="en-US" altLang="en-US"/>
          </a:p>
          <a:p>
            <a:pPr lvl="1"/>
            <a:r>
              <a:rPr lang="en-US" altLang="en-US"/>
              <a:t>Teams can deploy updates without coordinating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990"/>
          </a:xfrm>
        </p:spPr>
        <p:txBody>
          <a:bodyPr/>
          <a:p>
            <a:r>
              <a:rPr lang="en-US" altLang="en-US">
                <a:sym typeface="+mn-ea"/>
              </a:rPr>
              <a:t>Real-World Implementation Benefits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190"/>
            <a:ext cx="10515600" cy="4657090"/>
          </a:xfrm>
        </p:spPr>
        <p:txBody>
          <a:bodyPr>
            <a:normAutofit/>
          </a:bodyPr>
          <a:p>
            <a:r>
              <a:rPr lang="en-US" altLang="en-US"/>
              <a:t>Netflix Case Study:</a:t>
            </a:r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Before Kubernetes: Monolithic application, took hours to deploy changes</a:t>
            </a:r>
            <a:endParaRPr lang="en-US" altLang="en-US"/>
          </a:p>
          <a:p>
            <a:pPr lvl="1"/>
            <a:r>
              <a:rPr lang="en-US" altLang="en-US"/>
              <a:t>After Kubernetes: 1000+ microservices, deploy hundreds of times per day</a:t>
            </a:r>
            <a:endParaRPr lang="en-US" altLang="en-US"/>
          </a:p>
          <a:p>
            <a:pPr lvl="1"/>
            <a:r>
              <a:rPr lang="en-US" altLang="en-US"/>
              <a:t>Auto-scaling: Automatically handles traffic spikes (new movie releases)</a:t>
            </a:r>
            <a:endParaRPr lang="en-US" altLang="en-US"/>
          </a:p>
          <a:p>
            <a:pPr lvl="1"/>
            <a:r>
              <a:rPr lang="en-US" altLang="en-US"/>
              <a:t>Fault tolerance: If one service fails, others continue working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2335"/>
          </a:xfrm>
        </p:spPr>
        <p:txBody>
          <a:bodyPr>
            <a:normAutofit fontScale="90000"/>
          </a:bodyPr>
          <a:p>
            <a:r>
              <a:rPr lang="en-US" altLang="en-US"/>
              <a:t>High Availability and Disaster Recovery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3660"/>
            <a:ext cx="10515600" cy="483362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Multi-Region Setup: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Primary Region: Main production cluster</a:t>
            </a:r>
            <a:endParaRPr lang="en-US" altLang="en-US"/>
          </a:p>
          <a:p>
            <a:pPr lvl="1"/>
            <a:r>
              <a:rPr lang="en-US" altLang="en-US"/>
              <a:t>Secondary Region: Backup cluster with data replication</a:t>
            </a:r>
            <a:endParaRPr lang="en-US" altLang="en-US"/>
          </a:p>
          <a:p>
            <a:pPr lvl="1"/>
            <a:r>
              <a:rPr lang="en-US" altLang="en-US"/>
              <a:t>Automatic Failover: Traffic switches to backup region during outages</a:t>
            </a:r>
            <a:endParaRPr lang="en-US" altLang="en-US"/>
          </a:p>
          <a:p>
            <a:pPr lvl="1"/>
            <a:r>
              <a:rPr lang="en-US" altLang="en-US"/>
              <a:t>Data Consistency: Database replication ensures data availability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Self-Healing Capabilities: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Pod Failures: Automatically restart failed containers</a:t>
            </a:r>
            <a:endParaRPr lang="en-US" altLang="en-US"/>
          </a:p>
          <a:p>
            <a:pPr lvl="1"/>
            <a:r>
              <a:rPr lang="en-US" altLang="en-US"/>
              <a:t>Node Failures: Reschedule pods to healthy nodes</a:t>
            </a:r>
            <a:endParaRPr lang="en-US" altLang="en-US"/>
          </a:p>
          <a:p>
            <a:pPr lvl="1"/>
            <a:r>
              <a:rPr lang="en-US" altLang="en-US"/>
              <a:t>Service Failures: Remove unhealthy endpoints from load balancing</a:t>
            </a:r>
            <a:endParaRPr lang="en-US" altLang="en-US"/>
          </a:p>
          <a:p>
            <a:pPr lvl="1"/>
            <a:r>
              <a:rPr lang="en-US" altLang="en-US"/>
              <a:t>Resource Exhaustion: Automatically scale resources or evict low-priority pods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5515</Words>
  <Application>WPS Presentation</Application>
  <PresentationFormat>Widescreen</PresentationFormat>
  <Paragraphs>176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宋体-简</vt:lpstr>
      <vt:lpstr>Office Theme</vt:lpstr>
      <vt:lpstr>  Unit -1 Introduction to Kubernetes</vt:lpstr>
      <vt:lpstr>Unit-1 Topics</vt:lpstr>
      <vt:lpstr>Prerequisits Link</vt:lpstr>
      <vt:lpstr>PowerPoint 演示文稿</vt:lpstr>
      <vt:lpstr>Pod - The Atomic Unit</vt:lpstr>
      <vt:lpstr>Real-World Pod Examples:</vt:lpstr>
      <vt:lpstr>Service - The Network Abstraction</vt:lpstr>
      <vt:lpstr>Deployment vs ReplicaSet</vt:lpstr>
      <vt:lpstr>Real Scenario: E-commerce Site During Black Friday</vt:lpstr>
      <vt:lpstr>Other Key Concepts</vt:lpstr>
      <vt:lpstr>Kubernetes Use Cases</vt:lpstr>
      <vt:lpstr>PowerPoint 演示文稿</vt:lpstr>
      <vt:lpstr>PowerPoint 演示文稿</vt:lpstr>
      <vt:lpstr>PowerPoint 演示文稿</vt:lpstr>
      <vt:lpstr>PowerPoint 演示文稿</vt:lpstr>
      <vt:lpstr>Benefits Demonstrated:</vt:lpstr>
      <vt:lpstr>Real-World Implementation Benefits</vt:lpstr>
      <vt:lpstr>High Availability and Disaster Recovery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divyathakur</dc:creator>
  <cp:lastModifiedBy>divyathakur</cp:lastModifiedBy>
  <cp:revision>37</cp:revision>
  <dcterms:created xsi:type="dcterms:W3CDTF">2025-08-03T16:48:17Z</dcterms:created>
  <dcterms:modified xsi:type="dcterms:W3CDTF">2025-08-03T16:48:17Z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A01EE855B7911F5D216F8668292852C9_41</vt:lpwstr>
  </property>
  <property fmtid="{D5CDD505-2E9C-101B-9397-08002B2CF9AE}" pid="3" name="KSOProductBuildVer">
    <vt:lpwstr>1033-12.1.21937.21937</vt:lpwstr>
  </property>
</Properties>
</file>